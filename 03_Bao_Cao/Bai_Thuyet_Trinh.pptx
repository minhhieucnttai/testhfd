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ỨNG DỤNG XỬ LÝ ẢNH TỔNG HỢP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Bài 1 - Bài 12</a:t>
            </a:r>
          </a:p>
          <a:p/>
          <a:p>
            <a:r>
              <a:t>Sinh viên thực hiện: [Họ và tên]</a:t>
            </a:r>
          </a:p>
          <a:p>
            <a:r>
              <a:t>MSSV: [Mã số sinh viên]</a:t>
            </a:r>
          </a:p>
          <a:p>
            <a:r>
              <a:t>Lớp: [Lớp học]</a:t>
            </a:r>
          </a:p>
          <a:p>
            <a:r>
              <a:t>Giảng viên hướng dẫn: [Tên giảng viên]</a:t>
            </a:r>
          </a:p>
          <a:p/>
          <a:p>
            <a:r>
              <a:t>Năm học: 2024-2025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LỤC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Giới thiệu đồ án</a:t>
            </a:r>
          </a:p>
          <a:p>
            <a:pPr>
              <a:defRPr sz="1800"/>
            </a:pPr>
            <a:r>
              <a:t>Mục tiêu và yêu cầu</a:t>
            </a:r>
          </a:p>
          <a:p>
            <a:pPr>
              <a:defRPr sz="1800"/>
            </a:pPr>
            <a:r>
              <a:t>Công nghệ sử dụng</a:t>
            </a:r>
          </a:p>
          <a:p>
            <a:pPr>
              <a:defRPr sz="1800"/>
            </a:pPr>
            <a:r>
              <a:t>Kiến trúc hệ thống</a:t>
            </a:r>
          </a:p>
          <a:p>
            <a:pPr>
              <a:defRPr sz="1800"/>
            </a:pPr>
            <a:r>
              <a:t>Các chức năng đã cài đặt (Bài 1-12)</a:t>
            </a:r>
          </a:p>
          <a:p>
            <a:pPr>
              <a:defRPr sz="1800"/>
            </a:pPr>
            <a:r>
              <a:t>Giao diện ứng dụng</a:t>
            </a:r>
          </a:p>
          <a:p>
            <a:pPr>
              <a:defRPr sz="1800"/>
            </a:pPr>
            <a:r>
              <a:t>Demo và kết quả</a:t>
            </a:r>
          </a:p>
          <a:p>
            <a:pPr>
              <a:defRPr sz="1800"/>
            </a:pPr>
            <a:r>
              <a:t>Kết luận và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GIỚI THIỆU ĐỒ 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Tên đồ án: Ứng dụng xử lý ảnh tổng hợp</a:t>
            </a:r>
          </a:p>
          <a:p>
            <a:pPr>
              <a:defRPr sz="1800"/>
            </a:pPr>
            <a:r>
              <a:t>Mô tả:</a:t>
            </a:r>
          </a:p>
          <a:p>
            <a:pPr lvl="1">
              <a:defRPr sz="1800"/>
            </a:pPr>
            <a:r>
              <a:t>  • Xây dựng ứng dụng tích hợp đầy đủ các kỹ thuật xử lý ảnh</a:t>
            </a:r>
          </a:p>
          <a:p>
            <a:pPr lvl="1">
              <a:defRPr sz="1800"/>
            </a:pPr>
            <a:r>
              <a:t>  • Từ cơ bản đến nâng cao (12 bài tập)</a:t>
            </a:r>
          </a:p>
          <a:p>
            <a:pPr lvl="1">
              <a:defRPr sz="1800"/>
            </a:pPr>
            <a:r>
              <a:t>  • Giao diện đồ họa thân thiện, dễ sử dụng</a:t>
            </a:r>
          </a:p>
          <a:p>
            <a:pPr>
              <a:defRPr sz="1800"/>
            </a:pPr>
            <a:r>
              <a:t>Ý nghĩa:</a:t>
            </a:r>
          </a:p>
          <a:p>
            <a:pPr lvl="1">
              <a:defRPr sz="1800"/>
            </a:pPr>
            <a:r>
              <a:t>  • Củng cố kiến thức lý thuyết</a:t>
            </a:r>
          </a:p>
          <a:p>
            <a:pPr lvl="1">
              <a:defRPr sz="1800"/>
            </a:pPr>
            <a:r>
              <a:t>  • Thực hành lập trình xử lý ảnh</a:t>
            </a:r>
          </a:p>
          <a:p>
            <a:pPr lvl="1">
              <a:defRPr sz="1800"/>
            </a:pPr>
            <a:r>
              <a:t>  • Tạo sản phẩm ứng dụng hoàn chỉnh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 VÀ YÊU CẦU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Mục tiêu chính:</a:t>
            </a:r>
          </a:p>
          <a:p>
            <a:pPr lvl="1">
              <a:defRPr sz="1800"/>
            </a:pPr>
            <a:r>
              <a:t>  • Cài đặt đầy đủ 12 bài tập xử lý ảnh</a:t>
            </a:r>
          </a:p>
          <a:p>
            <a:pPr lvl="1">
              <a:defRPr sz="1800"/>
            </a:pPr>
            <a:r>
              <a:t>  • Tích hợp vào một ứng dụng duy nhất</a:t>
            </a:r>
          </a:p>
          <a:p>
            <a:pPr lvl="1">
              <a:defRPr sz="1800"/>
            </a:pPr>
            <a:r>
              <a:t>  • Giao diện trực quan, dễ sử dụng</a:t>
            </a:r>
          </a:p>
          <a:p>
            <a:pPr>
              <a:defRPr sz="1800"/>
            </a:pPr>
            <a:r>
              <a:t>Yêu cầu kỹ thuật:</a:t>
            </a:r>
          </a:p>
          <a:p>
            <a:pPr lvl="1">
              <a:defRPr sz="1800"/>
            </a:pPr>
            <a:r>
              <a:t>  • Sử dụng Python và các thư viện chuyên dụng</a:t>
            </a:r>
          </a:p>
          <a:p>
            <a:pPr lvl="1">
              <a:defRPr sz="1800"/>
            </a:pPr>
            <a:r>
              <a:t>  • Cài đặt thuật toán chính xác</a:t>
            </a:r>
          </a:p>
          <a:p>
            <a:pPr lvl="1">
              <a:defRPr sz="1800"/>
            </a:pPr>
            <a:r>
              <a:t>  • Tối ưu hiệu suất</a:t>
            </a:r>
          </a:p>
          <a:p>
            <a:pPr lvl="1">
              <a:defRPr sz="1800"/>
            </a:pPr>
            <a:r>
              <a:t>  • Có thể đóng gói thành file .exe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CÔNG NGHỆ SỬ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Ngôn ngữ lập trình: Python 3.8+</a:t>
            </a:r>
          </a:p>
          <a:p>
            <a:pPr>
              <a:defRPr sz="1800"/>
            </a:pPr>
            <a:r>
              <a:t>Thư viện xử lý ảnh:</a:t>
            </a:r>
          </a:p>
          <a:p>
            <a:pPr lvl="1">
              <a:defRPr sz="1800"/>
            </a:pPr>
            <a:r>
              <a:t>  • OpenCV (cv2) - Xử lý ảnh</a:t>
            </a:r>
          </a:p>
          <a:p>
            <a:pPr lvl="1">
              <a:defRPr sz="1800"/>
            </a:pPr>
            <a:r>
              <a:t>  • NumPy - Tính toán ma trận</a:t>
            </a:r>
          </a:p>
          <a:p>
            <a:pPr lvl="1">
              <a:defRPr sz="1800"/>
            </a:pPr>
            <a:r>
              <a:t>  • Pillow (PIL) - Định dạng ảnh</a:t>
            </a:r>
          </a:p>
          <a:p>
            <a:pPr>
              <a:defRPr sz="1800"/>
            </a:pPr>
            <a:r>
              <a:t>Thư viện giao diện:</a:t>
            </a:r>
          </a:p>
          <a:p>
            <a:pPr lvl="1">
              <a:defRPr sz="1800"/>
            </a:pPr>
            <a:r>
              <a:t>  • Tkinter - GUI framework (built-in)</a:t>
            </a:r>
          </a:p>
          <a:p>
            <a:pPr lvl="1">
              <a:defRPr sz="1800"/>
            </a:pPr>
            <a:r>
              <a:t>  • Matplotlib - Vẽ biểu đồ</a:t>
            </a:r>
          </a:p>
          <a:p>
            <a:pPr>
              <a:defRPr sz="1800"/>
            </a:pPr>
            <a:r>
              <a:t>Công cụ đóng gói:</a:t>
            </a:r>
          </a:p>
          <a:p>
            <a:pPr lvl="1">
              <a:defRPr sz="1800"/>
            </a:pPr>
            <a:r>
              <a:t>  • PyInstaller - Tạo file .exe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KIẾN TRÚC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01_Source_Code/</a:t>
            </a:r>
          </a:p>
          <a:p>
            <a:pPr lvl="1">
              <a:defRPr sz="1800"/>
            </a:pPr>
            <a:r>
              <a:t>  • image_processing.py (Core Library)</a:t>
            </a:r>
          </a:p>
          <a:p>
            <a:pPr lvl="1">
              <a:defRPr sz="1800"/>
            </a:pPr>
            <a:r>
              <a:t>  • comprehensive_app.py (GUI Application)</a:t>
            </a:r>
          </a:p>
          <a:p>
            <a:pPr lvl="1">
              <a:defRPr sz="1800"/>
            </a:pPr>
            <a:r>
              <a:t>  • create_samples.py (Sample Generator)</a:t>
            </a:r>
          </a:p>
          <a:p>
            <a:pPr lvl="1">
              <a:defRPr sz="1800"/>
            </a:pPr>
            <a:r>
              <a:t>  • requirements.txt (Dependencies)</a:t>
            </a:r>
          </a:p>
          <a:p>
            <a:pPr>
              <a:defRPr sz="1800"/>
            </a:pPr>
            <a:r>
              <a:t>02_Ung_Dung_San_Pham/</a:t>
            </a:r>
          </a:p>
          <a:p>
            <a:pPr lvl="1">
              <a:defRPr sz="1800"/>
            </a:pPr>
            <a:r>
              <a:t>  • XuLyAnh_Final.exe (Executable)</a:t>
            </a:r>
          </a:p>
          <a:p>
            <a:pPr lvl="1">
              <a:defRPr sz="1800"/>
            </a:pPr>
            <a:r>
              <a:t>  • sample_images/ (Demo Images)</a:t>
            </a:r>
          </a:p>
          <a:p>
            <a:pPr>
              <a:defRPr sz="1800"/>
            </a:pPr>
            <a:r>
              <a:t>03_Bao_Cao/</a:t>
            </a:r>
          </a:p>
          <a:p>
            <a:pPr lvl="1">
              <a:defRPr sz="1800"/>
            </a:pPr>
            <a:r>
              <a:t>  • Bao_Cao_Ket_Thuc_Mon.docx</a:t>
            </a:r>
          </a:p>
          <a:p>
            <a:pPr>
              <a:defRPr sz="1800"/>
            </a:pPr>
            <a:r>
              <a:t>Mô hình: Separation of Concerns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KIẾN TRÚC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File image_processing.py:</a:t>
            </a:r>
          </a:p>
          <a:p>
            <a:pPr lvl="1">
              <a:defRPr sz="1800"/>
            </a:pPr>
            <a:r>
              <a:t>  • Class ImageProcessor với static methods</a:t>
            </a:r>
          </a:p>
          <a:p>
            <a:pPr lvl="1">
              <a:defRPr sz="1800"/>
            </a:pPr>
            <a:r>
              <a:t>  • 25+ hàm xử lý ảnh độc lập</a:t>
            </a:r>
          </a:p>
          <a:p>
            <a:pPr lvl="1">
              <a:defRPr sz="1800"/>
            </a:pPr>
            <a:r>
              <a:t>  • Input/Output: NumPy arrays</a:t>
            </a:r>
          </a:p>
          <a:p>
            <a:pPr>
              <a:defRPr sz="1800"/>
            </a:pPr>
            <a:r>
              <a:t>File comprehensive_app.py:</a:t>
            </a:r>
          </a:p>
          <a:p>
            <a:pPr lvl="1">
              <a:defRPr sz="1800"/>
            </a:pPr>
            <a:r>
              <a:t>  • Class ImageProcessingApp (Tkinter)</a:t>
            </a:r>
          </a:p>
          <a:p>
            <a:pPr lvl="1">
              <a:defRPr sz="1800"/>
            </a:pPr>
            <a:r>
              <a:t>  • Quản lý giao diện người dùng</a:t>
            </a:r>
          </a:p>
          <a:p>
            <a:pPr lvl="1">
              <a:defRPr sz="1800"/>
            </a:pPr>
            <a:r>
              <a:t>  • Gọi hàm từ ImageProcessor</a:t>
            </a:r>
          </a:p>
          <a:p>
            <a:pPr>
              <a:defRPr sz="1800"/>
            </a:pPr>
            <a:r>
              <a:t>Ưu điểm:</a:t>
            </a:r>
          </a:p>
          <a:p>
            <a:pPr lvl="1">
              <a:defRPr sz="1800"/>
            </a:pPr>
            <a:r>
              <a:t>  • Code gọn gàng, dễ đọc</a:t>
            </a:r>
          </a:p>
          <a:p>
            <a:pPr lvl="1">
              <a:defRPr sz="1800"/>
            </a:pPr>
            <a:r>
              <a:t>  • Tái sử dụng cao</a:t>
            </a:r>
          </a:p>
          <a:p>
            <a:pPr lvl="1">
              <a:defRPr sz="1800"/>
            </a:pPr>
            <a:r>
              <a:t>  • Dễ kiểm thử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BÀI 1-3: CHỨC NĂNG CƠ BẢN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Chuyển đổi ảnh xám (Grayscale)</a:t>
            </a:r>
          </a:p>
          <a:p>
            <a:pPr lvl="1">
              <a:defRPr sz="1800"/>
            </a:pPr>
            <a:r>
              <a:t>  • Công thức: L = 0.299×R + 0.587×G + 0.114×B</a:t>
            </a:r>
          </a:p>
          <a:p>
            <a:pPr lvl="1">
              <a:defRPr sz="1800"/>
            </a:pPr>
            <a:r>
              <a:t>  • Giảm 3 kênh màu thành 1 kênh</a:t>
            </a:r>
          </a:p>
          <a:p>
            <a:pPr>
              <a:defRPr sz="1800"/>
            </a:pPr>
            <a:r>
              <a:t>2. Phân ngưỡng (Binary Threshold)</a:t>
            </a:r>
          </a:p>
          <a:p>
            <a:pPr lvl="1">
              <a:defRPr sz="1800"/>
            </a:pPr>
            <a:r>
              <a:t>  • Tách đối tượng khỏi nền</a:t>
            </a:r>
          </a:p>
          <a:p>
            <a:pPr lvl="1">
              <a:defRPr sz="1800"/>
            </a:pPr>
            <a:r>
              <a:t>  • Ngưỡng điều chỉnh được (0-255)</a:t>
            </a:r>
          </a:p>
          <a:p>
            <a:pPr>
              <a:defRPr sz="1800"/>
            </a:pPr>
            <a:r>
              <a:t>3. Tách kênh màu (Channel Splitting)</a:t>
            </a:r>
          </a:p>
          <a:p>
            <a:pPr lvl="1">
              <a:defRPr sz="1800"/>
            </a:pPr>
            <a:r>
              <a:t>  • Hiển thị riêng kênh R, G, B</a:t>
            </a:r>
          </a:p>
          <a:p>
            <a:pPr lvl="1">
              <a:defRPr sz="1800"/>
            </a:pPr>
            <a:r>
              <a:t>  • Hỗ trợ cả kênh Alpha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BÀI 4: KÉO GIÃN TƯƠNG PHẢN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Nguyên lý:</a:t>
            </a:r>
          </a:p>
          <a:p>
            <a:pPr lvl="1">
              <a:defRPr sz="1800"/>
            </a:pPr>
            <a:r>
              <a:t>  • Mở rộng dải giá trị pixel về [0, 255]</a:t>
            </a:r>
          </a:p>
          <a:p>
            <a:pPr lvl="1">
              <a:defRPr sz="1800"/>
            </a:pPr>
            <a:r>
              <a:t>  • Công thức: Out = (In - Min) × 255 / (Max - Min)</a:t>
            </a:r>
          </a:p>
          <a:p>
            <a:pPr>
              <a:defRPr sz="1800"/>
            </a:pPr>
            <a:r>
              <a:t>Ứng dụng:</a:t>
            </a:r>
          </a:p>
          <a:p>
            <a:pPr lvl="1">
              <a:defRPr sz="1800"/>
            </a:pPr>
            <a:r>
              <a:t>  • Ảnh có độ tương phản thấp</a:t>
            </a:r>
          </a:p>
          <a:p>
            <a:pPr lvl="1">
              <a:defRPr sz="1800"/>
            </a:pPr>
            <a:r>
              <a:t>  • Cải thiện chất lượng hiển thị</a:t>
            </a:r>
          </a:p>
          <a:p>
            <a:pPr>
              <a:defRPr sz="1800"/>
            </a:pPr>
            <a:r>
              <a:t>Kết quả:</a:t>
            </a:r>
          </a:p>
          <a:p>
            <a:pPr lvl="1">
              <a:defRPr sz="1800"/>
            </a:pPr>
            <a:r>
              <a:t>  • Tăng độ tương phản tuyến tính</a:t>
            </a:r>
          </a:p>
          <a:p>
            <a:pPr lvl="1">
              <a:defRPr sz="1800"/>
            </a:pPr>
            <a:r>
              <a:t>  • Không làm mất thông tin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BÀI 5-6: XỬ LÝ BIỂU ĐỒ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Cân bằng Histogram (Equalization)</a:t>
            </a:r>
          </a:p>
          <a:p>
            <a:pPr lvl="1">
              <a:defRPr sz="1800"/>
            </a:pPr>
            <a:r>
              <a:t>  • Phân bố đều độ sáng</a:t>
            </a:r>
          </a:p>
          <a:p>
            <a:pPr lvl="1">
              <a:defRPr sz="1800"/>
            </a:pPr>
            <a:r>
              <a:t>  • Tăng độ tương phản toàn cục</a:t>
            </a:r>
          </a:p>
          <a:p>
            <a:pPr>
              <a:defRPr sz="1800"/>
            </a:pPr>
            <a:r>
              <a:t>Khớp Histogram (Matching)</a:t>
            </a:r>
          </a:p>
          <a:p>
            <a:pPr lvl="1">
              <a:defRPr sz="1800"/>
            </a:pPr>
            <a:r>
              <a:t>  • Biến đổi theo phân bố mẫu (Gaussian)</a:t>
            </a:r>
          </a:p>
          <a:p>
            <a:pPr lvl="1">
              <a:defRPr sz="1800"/>
            </a:pPr>
            <a:r>
              <a:t>  • Sử dụng CDF</a:t>
            </a:r>
          </a:p>
          <a:p>
            <a:pPr>
              <a:defRPr sz="1800"/>
            </a:pPr>
            <a:r>
              <a:t>CLAHE (Adaptive Equalization)</a:t>
            </a:r>
          </a:p>
          <a:p>
            <a:pPr lvl="1">
              <a:defRPr sz="1800"/>
            </a:pPr>
            <a:r>
              <a:t>  • Cân bằng cục bộ từng vùng</a:t>
            </a:r>
          </a:p>
          <a:p>
            <a:pPr lvl="1">
              <a:defRPr sz="1800"/>
            </a:pPr>
            <a:r>
              <a:t>  • Clip limit để tránh nhiễu</a:t>
            </a:r>
          </a:p>
          <a:p>
            <a:pPr lvl="1">
              <a:defRPr sz="1800"/>
            </a:pPr>
            <a:r>
              <a:t>  • Tile size: 8×8 pixels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BÀI 7: LỌC NHIỄU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Lọc trung bình (Average Filter)</a:t>
            </a:r>
          </a:p>
          <a:p>
            <a:pPr lvl="1">
              <a:defRPr sz="1800"/>
            </a:pPr>
            <a:r>
              <a:t>  • Kernel: 3×3, 5×5</a:t>
            </a:r>
          </a:p>
          <a:p>
            <a:pPr lvl="1">
              <a:defRPr sz="1800"/>
            </a:pPr>
            <a:r>
              <a:t>  • Lấy giá trị trung bình cộng</a:t>
            </a:r>
          </a:p>
          <a:p>
            <a:pPr lvl="1">
              <a:defRPr sz="1800"/>
            </a:pPr>
            <a:r>
              <a:t>  • Làm mờ ảnh, giảm nhiễu</a:t>
            </a:r>
          </a:p>
          <a:p>
            <a:pPr>
              <a:defRPr sz="1800"/>
            </a:pPr>
            <a:r>
              <a:t>Lọc trung vị (Median Filter)</a:t>
            </a:r>
          </a:p>
          <a:p>
            <a:pPr lvl="1">
              <a:defRPr sz="1800"/>
            </a:pPr>
            <a:r>
              <a:t>  • Kernel: 3×3, 5×5</a:t>
            </a:r>
          </a:p>
          <a:p>
            <a:pPr lvl="1">
              <a:defRPr sz="1800"/>
            </a:pPr>
            <a:r>
              <a:t>  • Lấy giá trị trung vị</a:t>
            </a:r>
          </a:p>
          <a:p>
            <a:pPr lvl="1">
              <a:defRPr sz="1800"/>
            </a:pPr>
            <a:r>
              <a:t>  • Hiệu quả với nhiễu muối tiêu</a:t>
            </a:r>
          </a:p>
          <a:p>
            <a:pPr>
              <a:defRPr sz="1800"/>
            </a:pPr>
            <a:r>
              <a:t>So sánh:</a:t>
            </a:r>
          </a:p>
          <a:p>
            <a:pPr lvl="1">
              <a:defRPr sz="1800"/>
            </a:pPr>
            <a:r>
              <a:t>  • Average: Nhanh nhưng mờ biên</a:t>
            </a:r>
          </a:p>
          <a:p>
            <a:pPr lvl="1">
              <a:defRPr sz="1800"/>
            </a:pPr>
            <a:r>
              <a:t>  • Median: Chậm hơn nhưng giữ biên tốt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BÀI 8: TÁCH BIÊN BẬC 1 (Phần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Sobel Edge Detection</a:t>
            </a:r>
          </a:p>
          <a:p>
            <a:pPr lvl="1">
              <a:defRPr sz="1800"/>
            </a:pPr>
            <a:r>
              <a:t>  • Đạo hàm bậc 1 theo x và y</a:t>
            </a:r>
          </a:p>
          <a:p>
            <a:pPr lvl="1">
              <a:defRPr sz="1800"/>
            </a:pPr>
            <a:r>
              <a:t>  • Kernel 3×3</a:t>
            </a:r>
          </a:p>
          <a:p>
            <a:pPr lvl="1">
              <a:defRPr sz="1800"/>
            </a:pPr>
            <a:r>
              <a:t>  • Tính magnitude: √(Gx² + Gy²)</a:t>
            </a:r>
          </a:p>
          <a:p>
            <a:pPr>
              <a:defRPr sz="1800"/>
            </a:pPr>
            <a:r>
              <a:t>Prewitt Edge Detection</a:t>
            </a:r>
          </a:p>
          <a:p>
            <a:pPr lvl="1">
              <a:defRPr sz="1800"/>
            </a:pPr>
            <a:r>
              <a:t>  • Tương tự Sobel</a:t>
            </a:r>
          </a:p>
          <a:p>
            <a:pPr lvl="1">
              <a:defRPr sz="1800"/>
            </a:pPr>
            <a:r>
              <a:t>  • Kernel khác một chút</a:t>
            </a:r>
          </a:p>
          <a:p>
            <a:pPr lvl="1">
              <a:defRPr sz="1800"/>
            </a:pPr>
            <a:r>
              <a:t>  • Đơn giản hơn</a:t>
            </a:r>
          </a:p>
          <a:p>
            <a:pPr>
              <a:defRPr sz="1800"/>
            </a:pPr>
            <a:r>
              <a:t>Ứng dụng: Phát hiện đường viền, nhận dạng đối tượng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BÀI 8: TÁCH BIÊN BẬC 1 (Phần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Roberts Edge Detection</a:t>
            </a:r>
          </a:p>
          <a:p>
            <a:pPr lvl="1">
              <a:defRPr sz="1800"/>
            </a:pPr>
            <a:r>
              <a:t>  • Đạo hàm bậc 1 đơn giản</a:t>
            </a:r>
          </a:p>
          <a:p>
            <a:pPr lvl="1">
              <a:defRPr sz="1800"/>
            </a:pPr>
            <a:r>
              <a:t>  • Kernel 2×2</a:t>
            </a:r>
          </a:p>
          <a:p>
            <a:pPr lvl="1">
              <a:defRPr sz="1800"/>
            </a:pPr>
            <a:r>
              <a:t>  • Nhanh nhưng nhạy nhiễu</a:t>
            </a:r>
          </a:p>
          <a:p>
            <a:pPr>
              <a:defRPr sz="1800"/>
            </a:pPr>
            <a:r>
              <a:t>Kirsch Edge Detection</a:t>
            </a:r>
          </a:p>
          <a:p>
            <a:pPr lvl="1">
              <a:defRPr sz="1800"/>
            </a:pPr>
            <a:r>
              <a:t>  • Phát hiện theo 8 hướng</a:t>
            </a:r>
          </a:p>
          <a:p>
            <a:pPr lvl="1">
              <a:defRPr sz="1800"/>
            </a:pPr>
            <a:r>
              <a:t>  • 8 kernel khác nhau</a:t>
            </a:r>
          </a:p>
          <a:p>
            <a:pPr lvl="1">
              <a:defRPr sz="1800"/>
            </a:pPr>
            <a:r>
              <a:t>  • Phát hiện biên toàn diện</a:t>
            </a:r>
          </a:p>
          <a:p>
            <a:pPr>
              <a:defRPr sz="1800"/>
            </a:pPr>
            <a:r>
              <a:t>So sánh: Sobel/Prewitt cân bằng, Roberts nhanh, Kirsch toàn diện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BÀI 9: TÁCH BIÊN BẬC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Laplacian</a:t>
            </a:r>
          </a:p>
          <a:p>
            <a:pPr lvl="1">
              <a:defRPr sz="1800"/>
            </a:pPr>
            <a:r>
              <a:t>  • Đạo hàm bậc 2</a:t>
            </a:r>
          </a:p>
          <a:p>
            <a:pPr lvl="1">
              <a:defRPr sz="1800"/>
            </a:pPr>
            <a:r>
              <a:t>  • Phát hiện điểm thay đổi đột ngột</a:t>
            </a:r>
          </a:p>
          <a:p>
            <a:pPr>
              <a:defRPr sz="1800"/>
            </a:pPr>
            <a:r>
              <a:t>LoG (Laplacian of Gaussian)</a:t>
            </a:r>
          </a:p>
          <a:p>
            <a:pPr lvl="1">
              <a:defRPr sz="1800"/>
            </a:pPr>
            <a:r>
              <a:t>  • Làm mịn trước (Gaussian)</a:t>
            </a:r>
          </a:p>
          <a:p>
            <a:pPr lvl="1">
              <a:defRPr sz="1800"/>
            </a:pPr>
            <a:r>
              <a:t>  • Sau đó áp dụng Laplacian</a:t>
            </a:r>
          </a:p>
          <a:p>
            <a:pPr lvl="1">
              <a:defRPr sz="1800"/>
            </a:pPr>
            <a:r>
              <a:t>  • Giảm nhiễu, tăng độ chính xác</a:t>
            </a:r>
          </a:p>
          <a:p>
            <a:pPr>
              <a:defRPr sz="1800"/>
            </a:pPr>
            <a:r>
              <a:t>Image Sharpening</a:t>
            </a:r>
          </a:p>
          <a:p>
            <a:pPr lvl="1">
              <a:defRPr sz="1800"/>
            </a:pPr>
            <a:r>
              <a:t>  • Sharp = Original - Laplacian</a:t>
            </a:r>
          </a:p>
          <a:p>
            <a:pPr lvl="1">
              <a:defRPr sz="1800"/>
            </a:pPr>
            <a:r>
              <a:t>  • Làm nổi bật chi tiết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BÀI 10: BIẾN ĐỔI FOURIER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Nguyên lý:</a:t>
            </a:r>
          </a:p>
          <a:p>
            <a:pPr lvl="1">
              <a:defRPr sz="1800"/>
            </a:pPr>
            <a:r>
              <a:t>  • Chuyển ảnh: không gian → tần số</a:t>
            </a:r>
          </a:p>
          <a:p>
            <a:pPr lvl="1">
              <a:defRPr sz="1800"/>
            </a:pPr>
            <a:r>
              <a:t>  • Sử dụng np.fft.fft2()</a:t>
            </a:r>
          </a:p>
          <a:p>
            <a:pPr lvl="1">
              <a:defRPr sz="1800"/>
            </a:pPr>
            <a:r>
              <a:t>  • Dịch DC component: fftshift()</a:t>
            </a:r>
          </a:p>
          <a:p>
            <a:pPr>
              <a:defRPr sz="1800"/>
            </a:pPr>
            <a:r>
              <a:t>Magnitude Spectrum:</a:t>
            </a:r>
          </a:p>
          <a:p>
            <a:pPr lvl="1">
              <a:defRPr sz="1800"/>
            </a:pPr>
            <a:r>
              <a:t>  • Điểm sáng ở giữa = tần số 0</a:t>
            </a:r>
          </a:p>
          <a:p>
            <a:pPr lvl="1">
              <a:defRPr sz="1800"/>
            </a:pPr>
            <a:r>
              <a:t>  • Xa tâm = tần số cao (chi tiết, biên)</a:t>
            </a:r>
          </a:p>
          <a:p>
            <a:pPr>
              <a:defRPr sz="1800"/>
            </a:pPr>
            <a:r>
              <a:t>Ứng dụng:</a:t>
            </a:r>
          </a:p>
          <a:p>
            <a:pPr lvl="1">
              <a:defRPr sz="1800"/>
            </a:pPr>
            <a:r>
              <a:t>  • Phân tích tần số ảnh</a:t>
            </a:r>
          </a:p>
          <a:p>
            <a:pPr lvl="1">
              <a:defRPr sz="1800"/>
            </a:pPr>
            <a:r>
              <a:t>  • Lọc trong miền tần số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BÀI 11: LỌC THÔNG THẤP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Ideal Low-pass Filter</a:t>
            </a:r>
          </a:p>
          <a:p>
            <a:pPr lvl="1">
              <a:defRPr sz="1800"/>
            </a:pPr>
            <a:r>
              <a:t>  • Cắt bỏ hoàn toàn tần số cao</a:t>
            </a:r>
          </a:p>
          <a:p>
            <a:pPr lvl="1">
              <a:defRPr sz="1800"/>
            </a:pPr>
            <a:r>
              <a:t>  • Mask hình tròn với bán kính cutoff</a:t>
            </a:r>
          </a:p>
          <a:p>
            <a:pPr lvl="1">
              <a:defRPr sz="1800"/>
            </a:pPr>
            <a:r>
              <a:t>  • Nhược điểm: Hiện tượng ringing</a:t>
            </a:r>
          </a:p>
          <a:p>
            <a:pPr>
              <a:defRPr sz="1800"/>
            </a:pPr>
            <a:r>
              <a:t>Gaussian Low-pass Filter</a:t>
            </a:r>
          </a:p>
          <a:p>
            <a:pPr lvl="1">
              <a:defRPr sz="1800"/>
            </a:pPr>
            <a:r>
              <a:t>  • Giảm dần tần số cao</a:t>
            </a:r>
          </a:p>
          <a:p>
            <a:pPr lvl="1">
              <a:defRPr sz="1800"/>
            </a:pPr>
            <a:r>
              <a:t>  • Mask Gaussian: exp(-D²/2σ²)</a:t>
            </a:r>
          </a:p>
          <a:p>
            <a:pPr lvl="1">
              <a:defRPr sz="1800"/>
            </a:pPr>
            <a:r>
              <a:t>  • Làm mờ mịn hơn, giảm ringing</a:t>
            </a:r>
          </a:p>
          <a:p>
            <a:pPr>
              <a:defRPr sz="1800"/>
            </a:pPr>
            <a:r>
              <a:t>Tham số: Cutoff 10-100 (điều chỉnh được)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BÀI 12: LỌC THÔNG CAO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Ideal High-pass Filter</a:t>
            </a:r>
          </a:p>
          <a:p>
            <a:pPr lvl="1">
              <a:defRPr sz="1800"/>
            </a:pPr>
            <a:r>
              <a:t>  • Loại bỏ tần số thấp</a:t>
            </a:r>
          </a:p>
          <a:p>
            <a:pPr lvl="1">
              <a:defRPr sz="1800"/>
            </a:pPr>
            <a:r>
              <a:t>  • Giữ lại tần số cao (biên, chi tiết)</a:t>
            </a:r>
          </a:p>
          <a:p>
            <a:pPr lvl="1">
              <a:defRPr sz="1800"/>
            </a:pPr>
            <a:r>
              <a:t>  • Mask: 1 - Low-pass mask</a:t>
            </a:r>
          </a:p>
          <a:p>
            <a:pPr>
              <a:defRPr sz="1800"/>
            </a:pPr>
            <a:r>
              <a:t>Butterworth High-pass Filter</a:t>
            </a:r>
          </a:p>
          <a:p>
            <a:pPr lvl="1">
              <a:defRPr sz="1800"/>
            </a:pPr>
            <a:r>
              <a:t>  • Giảm dần tần số thấp</a:t>
            </a:r>
          </a:p>
          <a:p>
            <a:pPr lvl="1">
              <a:defRPr sz="1800"/>
            </a:pPr>
            <a:r>
              <a:t>  • Công thức: 1 / (1 + (D₀/D)^2n)</a:t>
            </a:r>
          </a:p>
          <a:p>
            <a:pPr lvl="1">
              <a:defRPr sz="1800"/>
            </a:pPr>
            <a:r>
              <a:t>  • Tách biên mềm mại hơn</a:t>
            </a:r>
          </a:p>
          <a:p>
            <a:pPr>
              <a:defRPr sz="1800"/>
            </a:pPr>
            <a:r>
              <a:t>Ứng dụng: Tách biên, làm nét ảnh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DIỆN ỨNG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Panel trái: Điều khiển (Control Panel)</a:t>
            </a:r>
          </a:p>
          <a:p>
            <a:pPr lvl="1">
              <a:defRPr sz="1800"/>
            </a:pPr>
            <a:r>
              <a:t>  • Nhóm chức năng theo bài tập</a:t>
            </a:r>
          </a:p>
          <a:p>
            <a:pPr lvl="1">
              <a:defRPr sz="1800"/>
            </a:pPr>
            <a:r>
              <a:t>  • Nút bấm và thanh trượt</a:t>
            </a:r>
          </a:p>
          <a:p>
            <a:pPr lvl="1">
              <a:defRPr sz="1800"/>
            </a:pPr>
            <a:r>
              <a:t>  • Scrollable để chứa nhiều chức năng</a:t>
            </a:r>
          </a:p>
          <a:p>
            <a:pPr>
              <a:defRPr sz="1800"/>
            </a:pPr>
            <a:r>
              <a:t>Panel phải: Hiển thị (Display Panel)</a:t>
            </a:r>
          </a:p>
          <a:p>
            <a:pPr lvl="1">
              <a:defRPr sz="1800"/>
            </a:pPr>
            <a:r>
              <a:t>  • Ảnh gốc và ảnh xử lý song song</a:t>
            </a:r>
          </a:p>
          <a:p>
            <a:pPr lvl="1">
              <a:defRPr sz="1800"/>
            </a:pPr>
            <a:r>
              <a:t>  • Thông tin chi tiết</a:t>
            </a:r>
          </a:p>
          <a:p>
            <a:pPr>
              <a:defRPr sz="1800"/>
            </a:pPr>
            <a:r>
              <a:t>Tính năng:</a:t>
            </a:r>
          </a:p>
          <a:p>
            <a:pPr lvl="1">
              <a:defRPr sz="1800"/>
            </a:pPr>
            <a:r>
              <a:t>  • Tải ảnh, Lưu ảnh, Reset</a:t>
            </a:r>
          </a:p>
          <a:p>
            <a:pPr lvl="1">
              <a:defRPr sz="1800"/>
            </a:pPr>
            <a:r>
              <a:t>  • Áp dụng các chức năng xử lý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- QUY TRÌNH SỬ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Bước 1: Tải ảnh</a:t>
            </a:r>
          </a:p>
          <a:p>
            <a:pPr lvl="1">
              <a:defRPr sz="1800"/>
            </a:pPr>
            <a:r>
              <a:t>  • Click "Tải ảnh" → Chọn file</a:t>
            </a:r>
          </a:p>
          <a:p>
            <a:pPr>
              <a:defRPr sz="1800"/>
            </a:pPr>
            <a:r>
              <a:t>Bước 2: Chọn chức năng</a:t>
            </a:r>
          </a:p>
          <a:p>
            <a:pPr lvl="1">
              <a:defRPr sz="1800"/>
            </a:pPr>
            <a:r>
              <a:t>  • Click vào nút chức năng mong muốn</a:t>
            </a:r>
          </a:p>
          <a:p>
            <a:pPr lvl="1">
              <a:defRPr sz="1800"/>
            </a:pPr>
            <a:r>
              <a:t>  • Điều chỉnh tham số (nếu có)</a:t>
            </a:r>
          </a:p>
          <a:p>
            <a:pPr>
              <a:defRPr sz="1800"/>
            </a:pPr>
            <a:r>
              <a:t>Bước 3: Xem kết quả</a:t>
            </a:r>
          </a:p>
          <a:p>
            <a:pPr lvl="1">
              <a:defRPr sz="1800"/>
            </a:pPr>
            <a:r>
              <a:t>  • So sánh ảnh gốc và ảnh xử lý</a:t>
            </a:r>
          </a:p>
          <a:p>
            <a:pPr>
              <a:defRPr sz="1800"/>
            </a:pPr>
            <a:r>
              <a:t>Bước 4: Lưu hoặc thử lại</a:t>
            </a:r>
          </a:p>
          <a:p>
            <a:pPr lvl="1">
              <a:defRPr sz="1800"/>
            </a:pPr>
            <a:r>
              <a:t>  • Lưu ảnh kết quả</a:t>
            </a:r>
          </a:p>
          <a:p>
            <a:pPr lvl="1">
              <a:defRPr sz="1800"/>
            </a:pPr>
            <a:r>
              <a:t>  • Hoặc Reset và thử chức năng khác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DEMO (Phần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Ảnh xám:</a:t>
            </a:r>
          </a:p>
          <a:p>
            <a:pPr lvl="1">
              <a:defRPr sz="1800"/>
            </a:pPr>
            <a:r>
              <a:t>  • Input: Ảnh màu → Output: Ảnh đen trắng</a:t>
            </a:r>
          </a:p>
          <a:p>
            <a:pPr lvl="1">
              <a:defRPr sz="1800"/>
            </a:pPr>
            <a:r>
              <a:t>  • Thời gian: &lt; 0.1s</a:t>
            </a:r>
          </a:p>
          <a:p>
            <a:pPr>
              <a:defRPr sz="1800"/>
            </a:pPr>
            <a:r>
              <a:t>Cân bằng Histogram:</a:t>
            </a:r>
          </a:p>
          <a:p>
            <a:pPr lvl="1">
              <a:defRPr sz="1800"/>
            </a:pPr>
            <a:r>
              <a:t>  • Input: Ảnh tối</a:t>
            </a:r>
          </a:p>
          <a:p>
            <a:pPr lvl="1">
              <a:defRPr sz="1800"/>
            </a:pPr>
            <a:r>
              <a:t>  • Output: Ảnh sáng rõ, tương phản tốt</a:t>
            </a:r>
          </a:p>
          <a:p>
            <a:pPr>
              <a:defRPr sz="1800"/>
            </a:pPr>
            <a:r>
              <a:t>Lọc Median:</a:t>
            </a:r>
          </a:p>
          <a:p>
            <a:pPr lvl="1">
              <a:defRPr sz="1800"/>
            </a:pPr>
            <a:r>
              <a:t>  • Input: Ảnh nhiễu muối tiêu</a:t>
            </a:r>
          </a:p>
          <a:p>
            <a:pPr lvl="1">
              <a:defRPr sz="1800"/>
            </a:pPr>
            <a:r>
              <a:t>  • Output: Ảnh sạch, giữ biên tốt</a:t>
            </a:r>
          </a:p>
          <a:p>
            <a:pPr lvl="1">
              <a:defRPr sz="1800"/>
            </a:pPr>
            <a:r>
              <a:t>  • Kernel 5×5: Tốt nhất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DEMO (Phần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Sobel Edge:</a:t>
            </a:r>
          </a:p>
          <a:p>
            <a:pPr lvl="1">
              <a:defRPr sz="1800"/>
            </a:pPr>
            <a:r>
              <a:t>  • Input: Ảnh gốc</a:t>
            </a:r>
          </a:p>
          <a:p>
            <a:pPr lvl="1">
              <a:defRPr sz="1800"/>
            </a:pPr>
            <a:r>
              <a:t>  • Output: Đường viền rõ ràng</a:t>
            </a:r>
          </a:p>
          <a:p>
            <a:pPr lvl="1">
              <a:defRPr sz="1800"/>
            </a:pPr>
            <a:r>
              <a:t>  • Ứng dụng: Nhận dạng vật thể</a:t>
            </a:r>
          </a:p>
          <a:p>
            <a:pPr>
              <a:defRPr sz="1800"/>
            </a:pPr>
            <a:r>
              <a:t>FFT Spectrum:</a:t>
            </a:r>
          </a:p>
          <a:p>
            <a:pPr lvl="1">
              <a:defRPr sz="1800"/>
            </a:pPr>
            <a:r>
              <a:t>  • Hiển thị phổ tần số</a:t>
            </a:r>
          </a:p>
          <a:p>
            <a:pPr lvl="1">
              <a:defRPr sz="1800"/>
            </a:pPr>
            <a:r>
              <a:t>  • Phân tích cấu trúc ảnh</a:t>
            </a:r>
          </a:p>
          <a:p>
            <a:pPr>
              <a:defRPr sz="1800"/>
            </a:pPr>
            <a:r>
              <a:t>Butterworth High-pass:</a:t>
            </a:r>
          </a:p>
          <a:p>
            <a:pPr lvl="1">
              <a:defRPr sz="1800"/>
            </a:pPr>
            <a:r>
              <a:t>  • Tách biên mềm mại</a:t>
            </a:r>
          </a:p>
          <a:p>
            <a:pPr lvl="1">
              <a:defRPr sz="1800"/>
            </a:pPr>
            <a:r>
              <a:t>  • Kết quả tự nhiên hơn Ideal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ƯU ĐIỂM &amp; HẠN CHẾ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Ưu điểm:</a:t>
            </a:r>
          </a:p>
          <a:p>
            <a:pPr lvl="1">
              <a:defRPr sz="1800"/>
            </a:pPr>
            <a:r>
              <a:t>  ✅ Tích hợp đầy đủ 22+ chức năng</a:t>
            </a:r>
          </a:p>
          <a:p>
            <a:pPr lvl="1">
              <a:defRPr sz="1800"/>
            </a:pPr>
            <a:r>
              <a:t>  ✅ Giao diện thân thiện, trực quan</a:t>
            </a:r>
          </a:p>
          <a:p>
            <a:pPr lvl="1">
              <a:defRPr sz="1800"/>
            </a:pPr>
            <a:r>
              <a:t>  ✅ Code sạch sẽ, có cấu trúc</a:t>
            </a:r>
          </a:p>
          <a:p>
            <a:pPr lvl="1">
              <a:defRPr sz="1800"/>
            </a:pPr>
            <a:r>
              <a:t>  ✅ Tài liệu đầy đủ (Tiếng Việt)</a:t>
            </a:r>
          </a:p>
          <a:p>
            <a:pPr>
              <a:defRPr sz="1800"/>
            </a:pPr>
            <a:r>
              <a:t>Hạn chế:</a:t>
            </a:r>
          </a:p>
          <a:p>
            <a:pPr lvl="1">
              <a:defRPr sz="1800"/>
            </a:pPr>
            <a:r>
              <a:t>  ⚠️ Chưa hỗ trợ xử lý video</a:t>
            </a:r>
          </a:p>
          <a:p>
            <a:pPr lvl="1">
              <a:defRPr sz="1800"/>
            </a:pPr>
            <a:r>
              <a:t>  ⚠️ Chưa có undo/redo</a:t>
            </a:r>
          </a:p>
          <a:p>
            <a:pPr lvl="1">
              <a:defRPr sz="1800"/>
            </a:pPr>
            <a:r>
              <a:t>  ⚠️ Chưa tối ưu cho ảnh cực lớn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HƯỚNG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Ngắn hạn:</a:t>
            </a:r>
          </a:p>
          <a:p>
            <a:pPr lvl="1">
              <a:defRPr sz="1800"/>
            </a:pPr>
            <a:r>
              <a:t>  • Thêm undo/redo</a:t>
            </a:r>
          </a:p>
          <a:p>
            <a:pPr lvl="1">
              <a:defRPr sz="1800"/>
            </a:pPr>
            <a:r>
              <a:t>  • Batch processing (xử lý nhiều ảnh)</a:t>
            </a:r>
          </a:p>
          <a:p>
            <a:pPr lvl="1">
              <a:defRPr sz="1800"/>
            </a:pPr>
            <a:r>
              <a:t>  • Lưu/load preset tham số</a:t>
            </a:r>
          </a:p>
          <a:p>
            <a:pPr lvl="1">
              <a:defRPr sz="1800"/>
            </a:pPr>
            <a:r>
              <a:t>  • Thêm shortcuts (Ctrl+O, Ctrl+S)</a:t>
            </a:r>
          </a:p>
          <a:p>
            <a:pPr>
              <a:defRPr sz="1800"/>
            </a:pPr>
            <a:r>
              <a:t>Dài hạn:</a:t>
            </a:r>
          </a:p>
          <a:p>
            <a:pPr lvl="1">
              <a:defRPr sz="1800"/>
            </a:pPr>
            <a:r>
              <a:t>  • Xử lý video</a:t>
            </a:r>
          </a:p>
          <a:p>
            <a:pPr lvl="1">
              <a:defRPr sz="1800"/>
            </a:pPr>
            <a:r>
              <a:t>  • Tích hợp Machine Learning</a:t>
            </a:r>
          </a:p>
          <a:p>
            <a:pPr lvl="1">
              <a:defRPr sz="1800"/>
            </a:pPr>
            <a:r>
              <a:t>  • Face detection, Object recognition</a:t>
            </a:r>
          </a:p>
          <a:p>
            <a:pPr lvl="1">
              <a:defRPr sz="1800"/>
            </a:pPr>
            <a:r>
              <a:t>  • Cloud integration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KINH NGHIỆM RÚT 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Về kỹ thuật:</a:t>
            </a:r>
          </a:p>
          <a:p>
            <a:pPr lvl="1">
              <a:defRPr sz="1800"/>
            </a:pPr>
            <a:r>
              <a:t>  • Hiểu sâu về xử lý ảnh</a:t>
            </a:r>
          </a:p>
          <a:p>
            <a:pPr lvl="1">
              <a:defRPr sz="1800"/>
            </a:pPr>
            <a:r>
              <a:t>  • Thành thạo OpenCV, NumPy</a:t>
            </a:r>
          </a:p>
          <a:p>
            <a:pPr lvl="1">
              <a:defRPr sz="1800"/>
            </a:pPr>
            <a:r>
              <a:t>  • Kỹ năng tối ưu thuật toán</a:t>
            </a:r>
          </a:p>
          <a:p>
            <a:pPr>
              <a:defRPr sz="1800"/>
            </a:pPr>
            <a:r>
              <a:t>Về lập trình:</a:t>
            </a:r>
          </a:p>
          <a:p>
            <a:pPr lvl="1">
              <a:defRPr sz="1800"/>
            </a:pPr>
            <a:r>
              <a:t>  • Tổ chức code theo mô hình MVC</a:t>
            </a:r>
          </a:p>
          <a:p>
            <a:pPr lvl="1">
              <a:defRPr sz="1800"/>
            </a:pPr>
            <a:r>
              <a:t>  • Separation of Concerns</a:t>
            </a:r>
          </a:p>
          <a:p>
            <a:pPr lvl="1">
              <a:defRPr sz="1800"/>
            </a:pPr>
            <a:r>
              <a:t>  • Viết code dễ bảo trì</a:t>
            </a:r>
          </a:p>
          <a:p>
            <a:pPr>
              <a:defRPr sz="1800"/>
            </a:pPr>
            <a:r>
              <a:t>Về soft skills:</a:t>
            </a:r>
          </a:p>
          <a:p>
            <a:pPr lvl="1">
              <a:defRPr sz="1800"/>
            </a:pPr>
            <a:r>
              <a:t>  • Quản lý dự án</a:t>
            </a:r>
          </a:p>
          <a:p>
            <a:pPr lvl="1">
              <a:defRPr sz="1800"/>
            </a:pPr>
            <a:r>
              <a:t>  • Viết tài liệu kỹ thuật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Đã hoàn thành:</a:t>
            </a:r>
          </a:p>
          <a:p>
            <a:pPr lvl="1">
              <a:defRPr sz="1800"/>
            </a:pPr>
            <a:r>
              <a:t>  ✅ Cài đặt đầy đủ 12 bài tập (22+ chức năng)</a:t>
            </a:r>
          </a:p>
          <a:p>
            <a:pPr lvl="1">
              <a:defRPr sz="1800"/>
            </a:pPr>
            <a:r>
              <a:t>  ✅ Xây dựng ứng dụng GUI hoàn chỉnh</a:t>
            </a:r>
          </a:p>
          <a:p>
            <a:pPr lvl="1">
              <a:defRPr sz="1800"/>
            </a:pPr>
            <a:r>
              <a:t>  ✅ Tài liệu đầy đủ bằng Tiếng Việt</a:t>
            </a:r>
          </a:p>
          <a:p>
            <a:pPr lvl="1">
              <a:defRPr sz="1800"/>
            </a:pPr>
            <a:r>
              <a:t>  ✅ Sẵn sàng demo và nộp bài</a:t>
            </a:r>
          </a:p>
          <a:p>
            <a:pPr>
              <a:defRPr sz="1800"/>
            </a:pPr>
            <a:r>
              <a:t>Đóng góp:</a:t>
            </a:r>
          </a:p>
          <a:p>
            <a:pPr lvl="1">
              <a:defRPr sz="1800"/>
            </a:pPr>
            <a:r>
              <a:t>  • Sản phẩm ứng dụng thực tế</a:t>
            </a:r>
          </a:p>
          <a:p>
            <a:pPr lvl="1">
              <a:defRPr sz="1800"/>
            </a:pPr>
            <a:r>
              <a:t>  • Tài liệu tham khảo cho sinh viên khóa sau</a:t>
            </a:r>
          </a:p>
          <a:p>
            <a:pPr lvl="1">
              <a:defRPr sz="1800"/>
            </a:pPr>
            <a:r>
              <a:t>  • Nền tảng để phát triển thêm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Cảm ơn sự theo dõi của quý thầy cô!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PHẦN HỎI ĐÁP (Q&amp;A)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Sẵn sàng trả lời các câu hỏi về:</a:t>
            </a:r>
          </a:p>
          <a:p>
            <a:pPr>
              <a:defRPr sz="1800"/>
            </a:pPr>
          </a:p>
          <a:p>
            <a:pPr lvl="1">
              <a:defRPr sz="1800"/>
            </a:pPr>
            <a:r>
              <a:t>  1. Thuật toán và cài đặt</a:t>
            </a:r>
          </a:p>
          <a:p>
            <a:pPr lvl="1">
              <a:defRPr sz="1800"/>
            </a:pPr>
            <a:r>
              <a:t>  2. Lựa chọn công nghệ</a:t>
            </a:r>
          </a:p>
          <a:p>
            <a:pPr lvl="1">
              <a:defRPr sz="1800"/>
            </a:pPr>
            <a:r>
              <a:t>  3. Kiến trúc hệ thống</a:t>
            </a:r>
          </a:p>
          <a:p>
            <a:pPr lvl="1">
              <a:defRPr sz="1800"/>
            </a:pPr>
            <a:r>
              <a:t>  4. Kết quả và demo</a:t>
            </a:r>
          </a:p>
          <a:p>
            <a:pPr lvl="1">
              <a:defRPr sz="1800"/>
            </a:pPr>
            <a:r>
              <a:t>  5. Hướng phát triển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Demo trực tiếp: Có thể demo bất kỳ chức năng nào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TÀI LIỆU THAM KHẢO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Sách:</a:t>
            </a:r>
          </a:p>
          <a:p>
            <a:pPr lvl="1">
              <a:defRPr sz="1800"/>
            </a:pPr>
            <a:r>
              <a:t>  • Digital Image Processing - Gonzalez &amp; Woods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Documentation:</a:t>
            </a:r>
          </a:p>
          <a:p>
            <a:pPr lvl="1">
              <a:defRPr sz="1800"/>
            </a:pPr>
            <a:r>
              <a:t>  • OpenCV: https://docs.opencv.org/</a:t>
            </a:r>
          </a:p>
          <a:p>
            <a:pPr lvl="1">
              <a:defRPr sz="1800"/>
            </a:pPr>
            <a:r>
              <a:t>  • NumPy: https://numpy.org/doc/</a:t>
            </a:r>
          </a:p>
          <a:p>
            <a:pPr lvl="1">
              <a:defRPr sz="1800"/>
            </a:pPr>
            <a:r>
              <a:t>  • Python Tkinter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Source code:</a:t>
            </a:r>
          </a:p>
          <a:p>
            <a:pPr lvl="1">
              <a:defRPr sz="1800"/>
            </a:pPr>
            <a:r>
              <a:t>  • GitHub: https://github.com/minhhieucnttai/testhfd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